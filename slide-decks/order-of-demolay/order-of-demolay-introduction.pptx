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869680" y="-731520"/>
            <a:ext cx="4023360" cy="8412480"/>
          </a:xfrm>
          <a:prstGeom prst="parallelogram">
            <a:avLst/>
          </a:prstGeom>
          <a:solidFill>
            <a:srgbClr val="66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6080760"/>
            <a:ext cx="3931920" cy="1188720"/>
          </a:xfrm>
          <a:prstGeom prst="parallelogram">
            <a:avLst/>
          </a:prstGeom>
          <a:solidFill>
            <a:srgbClr val="1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320040"/>
            <a:ext cx="1645920" cy="1645920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89320"/>
            <a:ext cx="1280160" cy="128016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5230368"/>
            <a:ext cx="384048" cy="38404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800600"/>
            <a:ext cx="201168" cy="201168"/>
          </a:xfrm>
          <a:prstGeom prst="ellipse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4370832"/>
            <a:ext cx="128016" cy="128016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480560"/>
            <a:ext cx="1097280" cy="868680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87000" y="4224528"/>
            <a:ext cx="941832" cy="832103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07040" y="3968496"/>
            <a:ext cx="786384" cy="795528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27080" y="3712464"/>
            <a:ext cx="630936" cy="758952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101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720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9125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530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" y="14173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53035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11887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57150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3716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1051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CF00"/>
                </a:solidFill>
                <a:latin typeface="Bebas Neue"/>
              </a:rPr>
              <a:t>THE ORDER 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1353312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Bebas Neue"/>
              </a:rPr>
              <a:t>DeMOLAY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25146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FFFFFF"/>
                </a:solidFill>
                <a:latin typeface="Lato"/>
              </a:rPr>
              <a:t>A place to lead, serve, belong, and become.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94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0E5EF"/>
                </a:solidFill>
                <a:latin typeface="Lato"/>
              </a:rPr>
              <a:t>An introduction for young men and the people who support them</a:t>
            </a:r>
          </a:p>
        </p:txBody>
      </p:sp>
      <p:pic>
        <p:nvPicPr>
          <p:cNvPr id="31" name="Picture 30" descr="demolay-emblem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960120"/>
            <a:ext cx="2560320" cy="2560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61120" y="37033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CF00"/>
                </a:solidFill>
                <a:latin typeface="Lato"/>
              </a:rPr>
              <a:t>THE ROAD
BEGINS 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0E5EF"/>
                </a:solidFill>
                <a:latin typeface="Lato"/>
              </a:rPr>
              <a:t>01  |  THE ORDER OF DeMOLAY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869680" y="-731520"/>
            <a:ext cx="4023360" cy="8412480"/>
          </a:xfrm>
          <a:prstGeom prst="parallelogram">
            <a:avLst/>
          </a:prstGeom>
          <a:solidFill>
            <a:srgbClr val="66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6080760"/>
            <a:ext cx="3931920" cy="1188720"/>
          </a:xfrm>
          <a:prstGeom prst="parallelogram">
            <a:avLst/>
          </a:prstGeom>
          <a:solidFill>
            <a:srgbClr val="1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320040"/>
            <a:ext cx="1645920" cy="1645920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89320"/>
            <a:ext cx="1280160" cy="128016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5230368"/>
            <a:ext cx="384048" cy="38404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800600"/>
            <a:ext cx="201168" cy="201168"/>
          </a:xfrm>
          <a:prstGeom prst="ellipse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4370832"/>
            <a:ext cx="128016" cy="128016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480560"/>
            <a:ext cx="1097280" cy="868680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87000" y="4224528"/>
            <a:ext cx="941832" cy="832103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07040" y="3968496"/>
            <a:ext cx="786384" cy="795528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27080" y="3712464"/>
            <a:ext cx="630936" cy="758952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101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720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9125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530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" y="14173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53035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11887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57150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3716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CF00"/>
                </a:solidFill>
                <a:latin typeface="Lato"/>
              </a:rPr>
              <a:t>START 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Bebas Neue"/>
              </a:rPr>
              <a:t>What is DeMolay?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0E5EF"/>
                </a:solidFill>
                <a:latin typeface="Lato"/>
              </a:rPr>
              <a:t>02  |  THE ORDER OF DeMOLAY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1920240"/>
            <a:ext cx="146304" cy="146304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182880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F8F7FA"/>
                </a:solidFill>
                <a:latin typeface="Lato"/>
              </a:rPr>
              <a:t>A youth leadership organization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2606040"/>
            <a:ext cx="146304" cy="146304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251460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F8F7FA"/>
                </a:solidFill>
                <a:latin typeface="Lato"/>
              </a:rPr>
              <a:t>Built around friendship and service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3291840"/>
            <a:ext cx="146304" cy="146304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320040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F8F7FA"/>
                </a:solidFill>
                <a:latin typeface="Lato"/>
              </a:rPr>
              <a:t>Run by young people with adult support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3977639"/>
            <a:ext cx="146304" cy="146304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388620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F8F7FA"/>
                </a:solidFill>
                <a:latin typeface="Lato"/>
              </a:rPr>
              <a:t>A place to practice real responsibility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1828800"/>
            <a:ext cx="3931920" cy="333756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0" y="1828800"/>
            <a:ext cx="73152" cy="3337560"/>
          </a:xfrm>
          <a:prstGeom prst="rect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7498079" y="1993392"/>
            <a:ext cx="438912" cy="438912"/>
          </a:xfrm>
          <a:prstGeom prst="hexagon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2057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20116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The short version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2542032"/>
            <a:ext cx="34747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DeMolay helps young men develop character, confidence, and leadership through shared experiences—not lectures.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869680" y="-731520"/>
            <a:ext cx="4023360" cy="8412480"/>
          </a:xfrm>
          <a:prstGeom prst="parallelogram">
            <a:avLst/>
          </a:prstGeom>
          <a:solidFill>
            <a:srgbClr val="66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6080760"/>
            <a:ext cx="3931920" cy="1188720"/>
          </a:xfrm>
          <a:prstGeom prst="parallelogram">
            <a:avLst/>
          </a:prstGeom>
          <a:solidFill>
            <a:srgbClr val="1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320040"/>
            <a:ext cx="1645920" cy="1645920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89320"/>
            <a:ext cx="1280160" cy="128016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5230368"/>
            <a:ext cx="384048" cy="38404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800600"/>
            <a:ext cx="201168" cy="201168"/>
          </a:xfrm>
          <a:prstGeom prst="ellipse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4370832"/>
            <a:ext cx="128016" cy="128016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480560"/>
            <a:ext cx="1097280" cy="868680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87000" y="4224528"/>
            <a:ext cx="941832" cy="832103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07040" y="3968496"/>
            <a:ext cx="786384" cy="795528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27080" y="3712464"/>
            <a:ext cx="630936" cy="758952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101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720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9125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530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" y="14173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53035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11887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57150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3716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CF00"/>
                </a:solidFill>
                <a:latin typeface="Lato"/>
              </a:rPr>
              <a:t>THE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Bebas Neue"/>
              </a:rPr>
              <a:t>You do more than attend meetings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0E5EF"/>
                </a:solidFill>
                <a:latin typeface="Lato"/>
              </a:rPr>
              <a:t>03  |  THE ORDER OF DeMOLAY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65960" y="3383280"/>
            <a:ext cx="2011679" cy="0"/>
          </a:xfrm>
          <a:prstGeom prst="line">
            <a:avLst/>
          </a:prstGeom>
          <a:ln w="2540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09160" y="3383280"/>
            <a:ext cx="2011680" cy="0"/>
          </a:xfrm>
          <a:prstGeom prst="line">
            <a:avLst/>
          </a:prstGeom>
          <a:ln w="2540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52360" y="3383280"/>
            <a:ext cx="2011680" cy="0"/>
          </a:xfrm>
          <a:prstGeom prst="line">
            <a:avLst/>
          </a:prstGeom>
          <a:ln w="2540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1520" y="1828800"/>
            <a:ext cx="2514600" cy="329184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1828800"/>
            <a:ext cx="73152" cy="3291840"/>
          </a:xfrm>
          <a:prstGeom prst="rect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914400" y="1993392"/>
            <a:ext cx="438912" cy="438912"/>
          </a:xfrm>
          <a:prstGeom prst="hexagon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2057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2011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Lead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2542032"/>
            <a:ext cx="20574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Plan events. Speak up. Take a role.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1828800"/>
            <a:ext cx="2514600" cy="329184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74720" y="1828800"/>
            <a:ext cx="73152" cy="3291840"/>
          </a:xfrm>
          <a:prstGeom prst="rect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3657600" y="1993392"/>
            <a:ext cx="438912" cy="438912"/>
          </a:xfrm>
          <a:prstGeom prst="hexagon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2057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2011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Serve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2542032"/>
            <a:ext cx="20574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Help your community. Make an impact.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1828800"/>
            <a:ext cx="2514600" cy="329184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1828800"/>
            <a:ext cx="73152" cy="3291840"/>
          </a:xfrm>
          <a:prstGeom prst="rect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exagon 46"/>
          <p:cNvSpPr/>
          <p:nvPr/>
        </p:nvSpPr>
        <p:spPr>
          <a:xfrm>
            <a:off x="6400800" y="1993392"/>
            <a:ext cx="438912" cy="438912"/>
          </a:xfrm>
          <a:prstGeom prst="hexagon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2057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2011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Belong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2542032"/>
            <a:ext cx="20574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Build friendships across chapters.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61120" y="1828800"/>
            <a:ext cx="2514600" cy="329184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61120" y="1828800"/>
            <a:ext cx="73152" cy="3291840"/>
          </a:xfrm>
          <a:prstGeom prst="rect">
            <a:avLst/>
          </a:prstGeom>
          <a:solidFill>
            <a:srgbClr val="D56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Hexagon 52"/>
          <p:cNvSpPr/>
          <p:nvPr/>
        </p:nvSpPr>
        <p:spPr>
          <a:xfrm>
            <a:off x="9144000" y="1993392"/>
            <a:ext cx="438912" cy="438912"/>
          </a:xfrm>
          <a:prstGeom prst="hexagon">
            <a:avLst/>
          </a:prstGeom>
          <a:solidFill>
            <a:srgbClr val="D56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2057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20" y="2011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Grow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2542032"/>
            <a:ext cx="20574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Learn skills you can use anywhere.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869680" y="-731520"/>
            <a:ext cx="4023360" cy="8412480"/>
          </a:xfrm>
          <a:prstGeom prst="parallelogram">
            <a:avLst/>
          </a:prstGeom>
          <a:solidFill>
            <a:srgbClr val="66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6080760"/>
            <a:ext cx="3931920" cy="1188720"/>
          </a:xfrm>
          <a:prstGeom prst="parallelogram">
            <a:avLst/>
          </a:prstGeom>
          <a:solidFill>
            <a:srgbClr val="1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320040"/>
            <a:ext cx="1645920" cy="1645920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89320"/>
            <a:ext cx="1280160" cy="128016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5230368"/>
            <a:ext cx="384048" cy="38404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800600"/>
            <a:ext cx="201168" cy="201168"/>
          </a:xfrm>
          <a:prstGeom prst="ellipse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4370832"/>
            <a:ext cx="128016" cy="128016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480560"/>
            <a:ext cx="1097280" cy="868680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87000" y="4224528"/>
            <a:ext cx="941832" cy="832103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07040" y="3968496"/>
            <a:ext cx="786384" cy="795528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27080" y="3712464"/>
            <a:ext cx="630936" cy="758952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101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720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9125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530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" y="14173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53035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11887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57150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3716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CF00"/>
                </a:solidFill>
                <a:latin typeface="Lato"/>
              </a:rPr>
              <a:t>THE PROMISE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Bebas Neue"/>
              </a:rPr>
              <a:t>Seven virtues. One direction.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0E5EF"/>
                </a:solidFill>
                <a:latin typeface="Lato"/>
              </a:rPr>
              <a:t>04  |  THE ORDER OF DeMOLAY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16459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Lato"/>
              </a:rPr>
              <a:t>The Crown of Youth represents the ideals DeMolays are challenged to practice.</a:t>
            </a:r>
          </a:p>
        </p:txBody>
      </p:sp>
      <p:pic>
        <p:nvPicPr>
          <p:cNvPr id="31" name="Picture 30" descr="demolay-emblem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26280"/>
            <a:ext cx="1325880" cy="132588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4963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B365F"/>
                </a:solidFill>
                <a:latin typeface="Lato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7048" y="25146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Lato"/>
              </a:rPr>
              <a:t>Filial Love</a:t>
            </a:r>
          </a:p>
        </p:txBody>
      </p:sp>
      <p:sp>
        <p:nvSpPr>
          <p:cNvPr id="35" name="Oval 34"/>
          <p:cNvSpPr/>
          <p:nvPr/>
        </p:nvSpPr>
        <p:spPr>
          <a:xfrm>
            <a:off x="3657600" y="2423160"/>
            <a:ext cx="502920" cy="50292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24963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B365F"/>
                </a:solidFill>
                <a:latin typeface="Lato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25146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Lato"/>
              </a:rPr>
              <a:t>Reverence</a:t>
            </a:r>
          </a:p>
        </p:txBody>
      </p:sp>
      <p:sp>
        <p:nvSpPr>
          <p:cNvPr id="38" name="Oval 37"/>
          <p:cNvSpPr/>
          <p:nvPr/>
        </p:nvSpPr>
        <p:spPr>
          <a:xfrm>
            <a:off x="6446520" y="2423160"/>
            <a:ext cx="502920" cy="50292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4963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B365F"/>
                </a:solidFill>
                <a:latin typeface="Lato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25146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Lato"/>
              </a:rPr>
              <a:t>Courtesy</a:t>
            </a:r>
          </a:p>
        </p:txBody>
      </p:sp>
      <p:sp>
        <p:nvSpPr>
          <p:cNvPr id="41" name="Oval 40"/>
          <p:cNvSpPr/>
          <p:nvPr/>
        </p:nvSpPr>
        <p:spPr>
          <a:xfrm>
            <a:off x="9235439" y="2423160"/>
            <a:ext cx="502920" cy="50292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39" y="24963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B365F"/>
                </a:solidFill>
                <a:latin typeface="Lat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3807" y="25146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Lato"/>
              </a:rPr>
              <a:t>Comradeship</a:t>
            </a:r>
          </a:p>
        </p:txBody>
      </p:sp>
      <p:sp>
        <p:nvSpPr>
          <p:cNvPr id="44" name="Oval 43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3685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B365F"/>
                </a:solidFill>
                <a:latin typeface="Lato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7048" y="3703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Lato"/>
              </a:rPr>
              <a:t>Fidelity</a:t>
            </a:r>
          </a:p>
        </p:txBody>
      </p:sp>
      <p:sp>
        <p:nvSpPr>
          <p:cNvPr id="47" name="Oval 46"/>
          <p:cNvSpPr/>
          <p:nvPr/>
        </p:nvSpPr>
        <p:spPr>
          <a:xfrm>
            <a:off x="3657600" y="3611880"/>
            <a:ext cx="502920" cy="50292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3685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B365F"/>
                </a:solidFill>
                <a:latin typeface="Lato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3703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Lato"/>
              </a:rPr>
              <a:t>Cleanness</a:t>
            </a:r>
          </a:p>
        </p:txBody>
      </p:sp>
      <p:sp>
        <p:nvSpPr>
          <p:cNvPr id="50" name="Oval 49"/>
          <p:cNvSpPr/>
          <p:nvPr/>
        </p:nvSpPr>
        <p:spPr>
          <a:xfrm>
            <a:off x="6446520" y="3611880"/>
            <a:ext cx="502920" cy="50292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685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B365F"/>
                </a:solidFill>
                <a:latin typeface="Lato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4888" y="3703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Lato"/>
              </a:rPr>
              <a:t>Patriotism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CF00"/>
                </a:solidFill>
                <a:latin typeface="Lato"/>
              </a:rPr>
              <a:t>Not perfection. Practice.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869680" y="-731520"/>
            <a:ext cx="4023360" cy="8412480"/>
          </a:xfrm>
          <a:prstGeom prst="parallelogram">
            <a:avLst/>
          </a:prstGeom>
          <a:solidFill>
            <a:srgbClr val="66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6080760"/>
            <a:ext cx="3931920" cy="1188720"/>
          </a:xfrm>
          <a:prstGeom prst="parallelogram">
            <a:avLst/>
          </a:prstGeom>
          <a:solidFill>
            <a:srgbClr val="1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320040"/>
            <a:ext cx="1645920" cy="1645920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89320"/>
            <a:ext cx="1280160" cy="128016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5230368"/>
            <a:ext cx="384048" cy="38404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800600"/>
            <a:ext cx="201168" cy="201168"/>
          </a:xfrm>
          <a:prstGeom prst="ellipse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4370832"/>
            <a:ext cx="128016" cy="128016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480560"/>
            <a:ext cx="1097280" cy="868680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87000" y="4224528"/>
            <a:ext cx="941832" cy="832103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07040" y="3968496"/>
            <a:ext cx="786384" cy="795528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27080" y="3712464"/>
            <a:ext cx="630936" cy="758952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101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720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9125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530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" y="14173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53035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11887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57150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3716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CF00"/>
                </a:solidFill>
                <a:latin typeface="Lato"/>
              </a:rPr>
              <a:t>WHERE YOU 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Bebas Neue"/>
              </a:rPr>
              <a:t>Your chapter is youth-led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0E5EF"/>
                </a:solidFill>
                <a:latin typeface="Lato"/>
              </a:rPr>
              <a:t>05  |  THE ORDER OF DeMOLAY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73736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Lato"/>
              </a:rPr>
              <a:t>Young members do the leading.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" y="2651760"/>
            <a:ext cx="146304" cy="146304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19" y="256032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8F7FA"/>
                </a:solidFill>
                <a:latin typeface="Lato"/>
              </a:rPr>
              <a:t>Elect and serve as officers</a:t>
            </a:r>
          </a:p>
        </p:txBody>
      </p:sp>
      <p:sp>
        <p:nvSpPr>
          <p:cNvPr id="33" name="Oval 32"/>
          <p:cNvSpPr/>
          <p:nvPr/>
        </p:nvSpPr>
        <p:spPr>
          <a:xfrm>
            <a:off x="868680" y="3337560"/>
            <a:ext cx="146304" cy="146304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324612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8F7FA"/>
                </a:solidFill>
                <a:latin typeface="Lato"/>
              </a:rPr>
              <a:t>Create programs and activities</a:t>
            </a:r>
          </a:p>
        </p:txBody>
      </p:sp>
      <p:sp>
        <p:nvSpPr>
          <p:cNvPr id="35" name="Oval 34"/>
          <p:cNvSpPr/>
          <p:nvPr/>
        </p:nvSpPr>
        <p:spPr>
          <a:xfrm>
            <a:off x="868680" y="4023359"/>
            <a:ext cx="146304" cy="146304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19" y="393192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8F7FA"/>
                </a:solidFill>
                <a:latin typeface="Lato"/>
              </a:rPr>
              <a:t>Work together on decisions</a:t>
            </a:r>
          </a:p>
        </p:txBody>
      </p:sp>
      <p:sp>
        <p:nvSpPr>
          <p:cNvPr id="37" name="Oval 36"/>
          <p:cNvSpPr/>
          <p:nvPr/>
        </p:nvSpPr>
        <p:spPr>
          <a:xfrm>
            <a:off x="868680" y="4709159"/>
            <a:ext cx="146304" cy="146304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19" y="461772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8F7FA"/>
                </a:solidFill>
                <a:latin typeface="Lato"/>
              </a:rPr>
              <a:t>Welcome and mentor new members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1783080"/>
            <a:ext cx="4343400" cy="347472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6560" y="1783080"/>
            <a:ext cx="73152" cy="3474720"/>
          </a:xfrm>
          <a:prstGeom prst="rect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6949440" y="1947672"/>
            <a:ext cx="438912" cy="438912"/>
          </a:xfrm>
          <a:prstGeom prst="hexagon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201168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196596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Adults make the experience safe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2496312"/>
            <a:ext cx="3886200" cy="2606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Advisors provide guidance, continuity, training, and support so young leaders can lead well.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869680" y="-731520"/>
            <a:ext cx="4023360" cy="8412480"/>
          </a:xfrm>
          <a:prstGeom prst="parallelogram">
            <a:avLst/>
          </a:prstGeom>
          <a:solidFill>
            <a:srgbClr val="66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6080760"/>
            <a:ext cx="3931920" cy="1188720"/>
          </a:xfrm>
          <a:prstGeom prst="parallelogram">
            <a:avLst/>
          </a:prstGeom>
          <a:solidFill>
            <a:srgbClr val="1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320040"/>
            <a:ext cx="1645920" cy="1645920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89320"/>
            <a:ext cx="1280160" cy="128016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5230368"/>
            <a:ext cx="384048" cy="38404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800600"/>
            <a:ext cx="201168" cy="201168"/>
          </a:xfrm>
          <a:prstGeom prst="ellipse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4370832"/>
            <a:ext cx="128016" cy="128016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480560"/>
            <a:ext cx="1097280" cy="868680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87000" y="4224528"/>
            <a:ext cx="941832" cy="832103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07040" y="3968496"/>
            <a:ext cx="786384" cy="795528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27080" y="3712464"/>
            <a:ext cx="630936" cy="758952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101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720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9125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530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" y="14173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53035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11887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57150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3716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CF00"/>
                </a:solidFill>
                <a:latin typeface="Lato"/>
              </a:rPr>
              <a:t>MAKE IT REAL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Bebas Neue"/>
              </a:rPr>
              <a:t>What might you actually do?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0E5EF"/>
                </a:solidFill>
                <a:latin typeface="Lato"/>
              </a:rPr>
              <a:t>06  |  THE ORDER OF DeMOLAY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1828800"/>
            <a:ext cx="5029200" cy="132588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1828800"/>
            <a:ext cx="73152" cy="1325880"/>
          </a:xfrm>
          <a:prstGeom prst="rect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05840" y="1993392"/>
            <a:ext cx="438912" cy="438912"/>
          </a:xfrm>
          <a:prstGeom prst="hexagon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2057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Service projects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254203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Turn concern into action.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828800"/>
            <a:ext cx="5029200" cy="132588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1828800"/>
            <a:ext cx="73152" cy="1325880"/>
          </a:xfrm>
          <a:prstGeom prst="rect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6583680" y="1993392"/>
            <a:ext cx="438912" cy="438912"/>
          </a:xfrm>
          <a:prstGeom prst="hexagon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2057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Leadership events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254203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Practice speaking, planning, and teamwork.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3657600"/>
            <a:ext cx="5029200" cy="132588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" y="3657600"/>
            <a:ext cx="73152" cy="1325880"/>
          </a:xfrm>
          <a:prstGeom prst="rect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exagon 43"/>
          <p:cNvSpPr/>
          <p:nvPr/>
        </p:nvSpPr>
        <p:spPr>
          <a:xfrm>
            <a:off x="1005840" y="3822191"/>
            <a:ext cx="438912" cy="438912"/>
          </a:xfrm>
          <a:prstGeom prst="hexagon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8862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876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Social activities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" y="437083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Have fun with people who get it.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657600"/>
            <a:ext cx="5029200" cy="132588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3657600"/>
            <a:ext cx="73152" cy="1325880"/>
          </a:xfrm>
          <a:prstGeom prst="rect">
            <a:avLst/>
          </a:prstGeom>
          <a:solidFill>
            <a:srgbClr val="D56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xagon 49"/>
          <p:cNvSpPr/>
          <p:nvPr/>
        </p:nvSpPr>
        <p:spPr>
          <a:xfrm>
            <a:off x="6583680" y="3822191"/>
            <a:ext cx="438912" cy="438912"/>
          </a:xfrm>
          <a:prstGeom prst="hexagon">
            <a:avLst/>
          </a:prstGeom>
          <a:solidFill>
            <a:srgbClr val="D56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38862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Ceremonies and traditions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437083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Connect today’s choices to lasting ideals.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869680" y="-731520"/>
            <a:ext cx="4023360" cy="8412480"/>
          </a:xfrm>
          <a:prstGeom prst="parallelogram">
            <a:avLst/>
          </a:prstGeom>
          <a:solidFill>
            <a:srgbClr val="66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6080760"/>
            <a:ext cx="3931920" cy="1188720"/>
          </a:xfrm>
          <a:prstGeom prst="parallelogram">
            <a:avLst/>
          </a:prstGeom>
          <a:solidFill>
            <a:srgbClr val="1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320040"/>
            <a:ext cx="1645920" cy="1645920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89320"/>
            <a:ext cx="1280160" cy="128016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5230368"/>
            <a:ext cx="384048" cy="38404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800600"/>
            <a:ext cx="201168" cy="201168"/>
          </a:xfrm>
          <a:prstGeom prst="ellipse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4370832"/>
            <a:ext cx="128016" cy="128016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480560"/>
            <a:ext cx="1097280" cy="868680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87000" y="4224528"/>
            <a:ext cx="941832" cy="832103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07040" y="3968496"/>
            <a:ext cx="786384" cy="795528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27080" y="3712464"/>
            <a:ext cx="630936" cy="758952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101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720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9125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530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" y="14173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53035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11887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57150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3716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CF00"/>
                </a:solidFill>
                <a:latin typeface="Lato"/>
              </a:rPr>
              <a:t>THE PAYOFF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Bebas Neue"/>
              </a:rPr>
              <a:t>Skills that travel with you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0E5EF"/>
                </a:solidFill>
                <a:latin typeface="Lato"/>
              </a:rPr>
              <a:t>07  |  THE ORDER OF DeMOLAY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6002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Lato"/>
              </a:rPr>
              <a:t>DeMolay is practice for the rest of life.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1663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4488"/>
                </a:solidFill>
                <a:latin typeface="Lato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1663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76AF"/>
                </a:solidFill>
                <a:latin typeface="Lato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1663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CF00"/>
                </a:solidFill>
                <a:latin typeface="Lato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1663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AC242A"/>
                </a:solidFill>
                <a:latin typeface="Lato"/>
              </a:rPr>
              <a:t>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2514600"/>
            <a:ext cx="2148840" cy="2057400"/>
          </a:xfrm>
          <a:prstGeom prst="rect">
            <a:avLst/>
          </a:prstGeom>
          <a:solidFill>
            <a:srgbClr val="12345C"/>
          </a:solidFill>
          <a:ln w="19050">
            <a:solidFill>
              <a:srgbClr val="1E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2788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rimson Pro"/>
              </a:rPr>
              <a:t>Confidence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3337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Speak clearly—even when nervous.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2514600"/>
            <a:ext cx="2148840" cy="2057400"/>
          </a:xfrm>
          <a:prstGeom prst="rect">
            <a:avLst/>
          </a:prstGeom>
          <a:solidFill>
            <a:srgbClr val="123E45"/>
          </a:solidFill>
          <a:ln w="19050">
            <a:solidFill>
              <a:srgbClr val="007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2788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rimson Pro"/>
              </a:rPr>
              <a:t>Leadership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337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Move a team from idea to action.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2514600"/>
            <a:ext cx="2148840" cy="2057400"/>
          </a:xfrm>
          <a:prstGeom prst="rect">
            <a:avLst/>
          </a:prstGeom>
          <a:solidFill>
            <a:srgbClr val="4E3C19"/>
          </a:solidFill>
          <a:ln w="19050">
            <a:solidFill>
              <a:srgbClr val="FF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2788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rimson Pro"/>
              </a:rPr>
              <a:t>Character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337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Choose what is right when it is hard.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39" y="2514600"/>
            <a:ext cx="2148840" cy="2057400"/>
          </a:xfrm>
          <a:prstGeom prst="rect">
            <a:avLst/>
          </a:prstGeom>
          <a:solidFill>
            <a:srgbClr val="492A29"/>
          </a:solidFill>
          <a:ln w="19050">
            <a:solidFill>
              <a:srgbClr val="AC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19" y="2788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rimson Pro"/>
              </a:rPr>
              <a:t>Connection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19" y="3337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Build relationships that last.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869680" y="-731520"/>
            <a:ext cx="4023360" cy="8412480"/>
          </a:xfrm>
          <a:prstGeom prst="parallelogram">
            <a:avLst/>
          </a:prstGeom>
          <a:solidFill>
            <a:srgbClr val="66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6080760"/>
            <a:ext cx="3931920" cy="1188720"/>
          </a:xfrm>
          <a:prstGeom prst="parallelogram">
            <a:avLst/>
          </a:prstGeom>
          <a:solidFill>
            <a:srgbClr val="1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320040"/>
            <a:ext cx="1645920" cy="1645920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89320"/>
            <a:ext cx="1280160" cy="128016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5230368"/>
            <a:ext cx="384048" cy="38404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800600"/>
            <a:ext cx="201168" cy="201168"/>
          </a:xfrm>
          <a:prstGeom prst="ellipse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4370832"/>
            <a:ext cx="128016" cy="128016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480560"/>
            <a:ext cx="1097280" cy="868680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87000" y="4224528"/>
            <a:ext cx="941832" cy="832103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07040" y="3968496"/>
            <a:ext cx="786384" cy="795528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27080" y="3712464"/>
            <a:ext cx="630936" cy="758952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101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720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9125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530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" y="14173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53035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11887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57150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3716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CF00"/>
                </a:solidFill>
                <a:latin typeface="Lato"/>
              </a:rPr>
              <a:t>A PRACTICAL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Bebas Neue"/>
              </a:rPr>
              <a:t>Who can join?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0E5EF"/>
                </a:solidFill>
                <a:latin typeface="Lato"/>
              </a:rPr>
              <a:t>08  |  THE ORDER OF DeMOLAY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1828800"/>
            <a:ext cx="3246120" cy="301752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1828800"/>
            <a:ext cx="73152" cy="3017520"/>
          </a:xfrm>
          <a:prstGeom prst="rect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05840" y="1993392"/>
            <a:ext cx="438912" cy="438912"/>
          </a:xfrm>
          <a:prstGeom prst="hexagon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2057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B365F"/>
                </a:solidFill>
                <a:latin typeface="Lato"/>
              </a:rPr>
              <a:t>12→21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20116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Typical 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2542032"/>
            <a:ext cx="2788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Young men who have passed their 12th birthday and are not yet 21.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3246120" cy="301752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80560" y="1828800"/>
            <a:ext cx="73152" cy="3017520"/>
          </a:xfrm>
          <a:prstGeom prst="rect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4663440" y="1993392"/>
            <a:ext cx="438912" cy="438912"/>
          </a:xfrm>
          <a:prstGeom prst="hexagon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2057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20116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What matters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2542032"/>
            <a:ext cx="2788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Character, moral responsibility, belief in God, and respect for others.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1828800"/>
            <a:ext cx="3246120" cy="3017520"/>
          </a:xfrm>
          <a:prstGeom prst="roundRect">
            <a:avLst/>
          </a:prstGeom>
          <a:solidFill>
            <a:srgbClr val="152B4C"/>
          </a:solidFill>
          <a:ln w="13970">
            <a:solidFill>
              <a:srgbClr val="41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1828800"/>
            <a:ext cx="73152" cy="3017520"/>
          </a:xfrm>
          <a:prstGeom prst="rect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exagon 43"/>
          <p:cNvSpPr/>
          <p:nvPr/>
        </p:nvSpPr>
        <p:spPr>
          <a:xfrm>
            <a:off x="8321040" y="1993392"/>
            <a:ext cx="438912" cy="438912"/>
          </a:xfrm>
          <a:prstGeom prst="hexagon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2057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365F"/>
                </a:solidFill>
                <a:latin typeface="Lato"/>
              </a:rPr>
              <a:t>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20116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ato"/>
              </a:rPr>
              <a:t>Local details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2542032"/>
            <a:ext cx="2788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Eligibility, sponsorship, fees, and activities can vary by jurisdiction.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4406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CF00"/>
                </a:solidFill>
                <a:latin typeface="Lato"/>
              </a:rPr>
              <a:t>Ask your local chapter for the current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869680" y="-731520"/>
            <a:ext cx="4023360" cy="8412480"/>
          </a:xfrm>
          <a:prstGeom prst="parallelogram">
            <a:avLst/>
          </a:prstGeom>
          <a:solidFill>
            <a:srgbClr val="66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6080760"/>
            <a:ext cx="3931920" cy="1188720"/>
          </a:xfrm>
          <a:prstGeom prst="parallelogram">
            <a:avLst/>
          </a:prstGeom>
          <a:solidFill>
            <a:srgbClr val="1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320040"/>
            <a:ext cx="1645920" cy="1645920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89320"/>
            <a:ext cx="1280160" cy="128016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5230368"/>
            <a:ext cx="384048" cy="38404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800600"/>
            <a:ext cx="201168" cy="201168"/>
          </a:xfrm>
          <a:prstGeom prst="ellipse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4370832"/>
            <a:ext cx="128016" cy="128016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480560"/>
            <a:ext cx="1097280" cy="868680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87000" y="4224528"/>
            <a:ext cx="941832" cy="832103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07040" y="3968496"/>
            <a:ext cx="786384" cy="795528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27080" y="3712464"/>
            <a:ext cx="630936" cy="758952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101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720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9125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530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" y="14173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53035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11887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57150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3716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CF00"/>
                </a:solidFill>
                <a:latin typeface="Lato"/>
              </a:rPr>
              <a:t>THE INVITATION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Bebas Neue"/>
              </a:rPr>
              <a:t>You do not have to arrive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0E5EF"/>
                </a:solidFill>
                <a:latin typeface="Lato"/>
              </a:rPr>
              <a:t>09  |  THE ORDER OF DeMOLAY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645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Lato"/>
              </a:rPr>
              <a:t>You only need enough curiosity to take the next step.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7889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CF00"/>
                </a:solidFill>
                <a:latin typeface="Lato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2788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Lato"/>
              </a:rPr>
              <a:t>Visit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337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Meet the chapter and see what it feels like.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27889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CF00"/>
                </a:solidFill>
                <a:latin typeface="Lat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788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Lato"/>
              </a:rPr>
              <a:t>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3337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Join an activity or service project.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7889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CF00"/>
                </a:solidFill>
                <a:latin typeface="Lato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2788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Lato"/>
              </a:rPr>
              <a:t>Ask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337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Talk with a member, advisor, or parent.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39" y="27889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CF00"/>
                </a:solidFill>
                <a:latin typeface="Lato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799" y="2788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Lato"/>
              </a:rPr>
              <a:t>Decide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3337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Lato"/>
              </a:rPr>
              <a:t>Choose whether DeMolay fits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869680" y="-731520"/>
            <a:ext cx="4023360" cy="8412480"/>
          </a:xfrm>
          <a:prstGeom prst="parallelogram">
            <a:avLst/>
          </a:prstGeom>
          <a:solidFill>
            <a:srgbClr val="66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6080760"/>
            <a:ext cx="3931920" cy="1188720"/>
          </a:xfrm>
          <a:prstGeom prst="parallelogram">
            <a:avLst/>
          </a:prstGeom>
          <a:solidFill>
            <a:srgbClr val="1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320040"/>
            <a:ext cx="1645920" cy="1645920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89320"/>
            <a:ext cx="1280160" cy="1280160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5230368"/>
            <a:ext cx="384048" cy="38404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800600"/>
            <a:ext cx="201168" cy="201168"/>
          </a:xfrm>
          <a:prstGeom prst="ellipse">
            <a:avLst/>
          </a:prstGeom>
          <a:solidFill>
            <a:srgbClr val="007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4370832"/>
            <a:ext cx="128016" cy="128016"/>
          </a:xfrm>
          <a:prstGeom prst="ellipse">
            <a:avLst/>
          </a:prstGeom>
          <a:solidFill>
            <a:srgbClr val="1E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480560"/>
            <a:ext cx="1097280" cy="868680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87000" y="4224528"/>
            <a:ext cx="941832" cy="832103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07040" y="3968496"/>
            <a:ext cx="786384" cy="795528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27080" y="3712464"/>
            <a:ext cx="630936" cy="758952"/>
          </a:xfrm>
          <a:prstGeom prst="line">
            <a:avLst/>
          </a:prstGeom>
          <a:ln w="15240">
            <a:solidFill>
              <a:srgbClr val="FFC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7101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07208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91256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5304" y="1417320"/>
            <a:ext cx="0" cy="4572000"/>
          </a:xfrm>
          <a:prstGeom prst="line">
            <a:avLst/>
          </a:prstGeom>
          <a:ln w="6985">
            <a:solidFill>
              <a:srgbClr val="6F9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" y="14173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53035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118872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57150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371600"/>
            <a:ext cx="64008" cy="64008"/>
          </a:xfrm>
          <a:prstGeom prst="ellipse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F00"/>
                </a:solidFill>
                <a:latin typeface="Bebas Neue"/>
              </a:rPr>
              <a:t>YOUR NEXT MOVE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Bebas Neue"/>
              </a:rPr>
              <a:t>Come see what
you can become.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4612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  <a:latin typeface="Lato"/>
              </a:rPr>
              <a:t>Talk with a local DeMolay chapter.
Bring your questions. Bring a friend.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1828800"/>
            <a:ext cx="3291840" cy="2011680"/>
          </a:xfrm>
          <a:prstGeom prst="roundRect">
            <a:avLst/>
          </a:prstGeom>
          <a:solidFill>
            <a:srgbClr val="FFC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224028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B365F"/>
                </a:solidFill>
                <a:latin typeface="Lato"/>
              </a:rPr>
              <a:t>START
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2519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CF00"/>
                </a:solidFill>
                <a:latin typeface="Lato"/>
              </a:rPr>
              <a:t>demolay.org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0E5EF"/>
                </a:solidFill>
                <a:latin typeface="Lato"/>
              </a:rPr>
              <a:t>10  |  THE ORDER OF DeMOLAY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